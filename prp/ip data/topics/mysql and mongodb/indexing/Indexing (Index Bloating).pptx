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79" r:id="rId3"/>
    <p:sldId id="280" r:id="rId4"/>
    <p:sldId id="274" r:id="rId5"/>
    <p:sldId id="275" r:id="rId6"/>
    <p:sldId id="276" r:id="rId7"/>
    <p:sldId id="277" r:id="rId8"/>
    <p:sldId id="278" r:id="rId9"/>
    <p:sldId id="273" r:id="rId10"/>
    <p:sldId id="265" r:id="rId11"/>
    <p:sldId id="257" r:id="rId12"/>
    <p:sldId id="288" r:id="rId13"/>
    <p:sldId id="284" r:id="rId14"/>
    <p:sldId id="287" r:id="rId15"/>
    <p:sldId id="286" r:id="rId16"/>
    <p:sldId id="267" r:id="rId17"/>
    <p:sldId id="260" r:id="rId18"/>
    <p:sldId id="262" r:id="rId19"/>
    <p:sldId id="263" r:id="rId20"/>
    <p:sldId id="269" r:id="rId21"/>
    <p:sldId id="261" r:id="rId22"/>
    <p:sldId id="264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795B3A-C45B-4B7C-A1B6-8E9D8AEC7379}">
          <p14:sldIdLst>
            <p14:sldId id="256"/>
            <p14:sldId id="279"/>
            <p14:sldId id="280"/>
            <p14:sldId id="274"/>
            <p14:sldId id="275"/>
            <p14:sldId id="276"/>
            <p14:sldId id="277"/>
            <p14:sldId id="278"/>
            <p14:sldId id="273"/>
            <p14:sldId id="265"/>
            <p14:sldId id="257"/>
            <p14:sldId id="288"/>
            <p14:sldId id="284"/>
            <p14:sldId id="287"/>
            <p14:sldId id="286"/>
            <p14:sldId id="267"/>
            <p14:sldId id="260"/>
            <p14:sldId id="262"/>
            <p14:sldId id="263"/>
            <p14:sldId id="269"/>
            <p14:sldId id="261"/>
            <p14:sldId id="264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28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18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4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64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01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9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58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0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51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255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050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064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45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634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1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18917-D566-4FF5-9758-13CFBB162F65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7ADF8B-6078-49AE-A5A3-56459379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760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827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Index Bloat in SQL Server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199" y="1819276"/>
            <a:ext cx="10334626" cy="43576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What is Index Bloat in SQL Server?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Definition: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bloat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growth or inefficient usage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index pages over time, caused by actions like inserts, updates, and especially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 space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index pages (low page utilization)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I/O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reads and scans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fragmentation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125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76325"/>
            <a:ext cx="104203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Think of It Like This: A Book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0"/>
            <a:ext cx="10515600" cy="4424363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Imagine you're reading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page has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listed alphabetically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—this is like 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each page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of words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you can find what you need quickly.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But over time...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erases 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many pages (like deleting rows in a table).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you flip to a page and see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or two 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pages are even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65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1025"/>
            <a:ext cx="10515600" cy="55959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❗ The Problem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dictionary still has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number of pages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to 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You’re carrying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thick, heavy book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most pages have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 or no info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📖 That’s </a:t>
            </a:r>
            <a:r>
              <a:rPr lang="en-US" sz="2400" b="1" dirty="0"/>
              <a:t>Index Bloat</a:t>
            </a:r>
            <a:r>
              <a:rPr lang="en-US" sz="2400" dirty="0"/>
              <a:t> in SQL Server: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732795"/>
              </p:ext>
            </p:extLst>
          </p:nvPr>
        </p:nvGraphicFramePr>
        <p:xfrm>
          <a:off x="838200" y="3438524"/>
          <a:ext cx="10944224" cy="2647950"/>
        </p:xfrm>
        <a:graphic>
          <a:graphicData uri="http://schemas.openxmlformats.org/drawingml/2006/table">
            <a:tbl>
              <a:tblPr/>
              <a:tblGrid>
                <a:gridCol w="547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Analogy 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Server Equivalent 🗃️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Words on the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entries (row pointers)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Erased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Deleted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 but empty 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Bloated index (wasted storage)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page turning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I/O and slow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42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49" y="373752"/>
            <a:ext cx="10791825" cy="145187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SQL Server Indexes by Removing Empty Pages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How Empty Pages Are Created 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time, especially with frequent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get removed from index pages.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pages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automatically removed or compacted.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SQL Server ends up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partially filled or completely empty index pages.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079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2860"/>
            <a:ext cx="10515600" cy="5504103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              </a:t>
            </a: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and After Deletion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🔵 Before Deletion – Index Pages Are Full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Index (Page Level Layout):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[Page 1] --&gt; Row1, Row2, Row3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[Page 2] --&gt; Row4, Row5, Row6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[Page 3] --&gt; Row7, Row8, Row9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pages are fully utilized.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a balanced B-tree structure.</a:t>
            </a:r>
          </a:p>
        </p:txBody>
      </p:sp>
    </p:spTree>
    <p:extLst>
      <p:ext uri="{BB962C8B-B14F-4D97-AF65-F5344CB8AC3E}">
        <p14:creationId xmlns:p14="http://schemas.microsoft.com/office/powerpoint/2010/main" val="201304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804"/>
            <a:ext cx="10515600" cy="58491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Deletion – Empty Pages Exist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[Page 1] --&gt; Row1 (only 1 row left)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[Page 2] --&gt; Row4, Row5 (Row6 deleted)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[Page 3] --&gt; (EMPTY) --&gt; All rows deleted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3 is now empty but still exists in the structure.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consumes space and is still scanned during read operations.</a:t>
            </a:r>
          </a:p>
        </p:txBody>
      </p:sp>
    </p:spTree>
    <p:extLst>
      <p:ext uri="{BB962C8B-B14F-4D97-AF65-F5344CB8AC3E}">
        <p14:creationId xmlns:p14="http://schemas.microsoft.com/office/powerpoint/2010/main" val="100298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66751" y="714236"/>
            <a:ext cx="10629900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Why Empty Pages Are a Problem?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203117"/>
              </p:ext>
            </p:extLst>
          </p:nvPr>
        </p:nvGraphicFramePr>
        <p:xfrm>
          <a:off x="1630392" y="2380888"/>
          <a:ext cx="9169880" cy="2484412"/>
        </p:xfrm>
        <a:graphic>
          <a:graphicData uri="http://schemas.openxmlformats.org/drawingml/2006/table">
            <a:tbl>
              <a:tblPr/>
              <a:tblGrid>
                <a:gridCol w="44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10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🔍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💥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10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pages to 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queries, more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103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of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efficient use of disk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103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Degraded index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56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73908"/>
            <a:ext cx="937547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🛠 Tools for Cleanup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947040"/>
              </p:ext>
            </p:extLst>
          </p:nvPr>
        </p:nvGraphicFramePr>
        <p:xfrm>
          <a:off x="838200" y="1846051"/>
          <a:ext cx="10515600" cy="348112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15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271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DBCC SHRINKDATABASE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Shrinks database files, returns free space to 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mass deletion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271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 INDEX REORGANIZE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Defragments leaf-level pages in small chunks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light fragmentation (10–30%)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55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 INDEX REBUILD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Drops and recreates the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heavy fragmentation (&gt;30%)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271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sys.dm_db_index_physical_stats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DMV that shows page count, fragmentation %, space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 health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47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4032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Generating The Scenario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799326"/>
            <a:ext cx="10144125" cy="40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scenario, we created a table named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“Object”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the database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TestSizeDB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contains three columns: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“Id”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“Name”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Shape_Xml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Shape_Xml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stores XML data, with each row containing over 2.5MB of XML to increase the overall database size to over 1GB.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“Id”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is defined as the primary key, which causes SQL Server to automatically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clustered index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it. Additionally, we created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non-clustered index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“Name”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the table contained 500 rows. We then deleted 250 rows to test the scenario, after which we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database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reorganized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indexes on the table.</a:t>
            </a:r>
          </a:p>
        </p:txBody>
      </p:sp>
    </p:spTree>
    <p:extLst>
      <p:ext uri="{BB962C8B-B14F-4D97-AF65-F5344CB8AC3E}">
        <p14:creationId xmlns:p14="http://schemas.microsoft.com/office/powerpoint/2010/main" val="130163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9551"/>
            <a:ext cx="10515600" cy="607087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7" y="848746"/>
            <a:ext cx="10761133" cy="579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16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/>
              <a:t>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Deletion Table Size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C2ED4E-E8FC-41A2-B451-98A4447EF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400" y="977352"/>
            <a:ext cx="9508067" cy="5064674"/>
          </a:xfrm>
        </p:spPr>
      </p:pic>
    </p:spTree>
    <p:extLst>
      <p:ext uri="{BB962C8B-B14F-4D97-AF65-F5344CB8AC3E}">
        <p14:creationId xmlns:p14="http://schemas.microsoft.com/office/powerpoint/2010/main" val="399326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4067-8B95-43FD-90D2-D1919329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86A5-89B6-4A5F-B5F0-CF5AA55E3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83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E2FE-9F16-49D9-BACC-73FDCA81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28601"/>
            <a:ext cx="10693399" cy="587374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Files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B38510-7F88-4463-A429-00B6433B1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880533"/>
            <a:ext cx="10600267" cy="5748866"/>
          </a:xfrm>
        </p:spPr>
      </p:pic>
    </p:spTree>
    <p:extLst>
      <p:ext uri="{BB962C8B-B14F-4D97-AF65-F5344CB8AC3E}">
        <p14:creationId xmlns:p14="http://schemas.microsoft.com/office/powerpoint/2010/main" val="1259963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147A-1B48-4166-98FB-67B1A206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465733" cy="931333"/>
          </a:xfrm>
        </p:spPr>
        <p:txBody>
          <a:bodyPr>
            <a:normAutofit fontScale="90000"/>
          </a:bodyPr>
          <a:lstStyle/>
          <a:p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📁 MDF File (Primary Data File)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18998-DACE-4659-B092-73ECF3C2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4733"/>
            <a:ext cx="8596668" cy="4576629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 Data File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Stores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database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tables, indexes, stored procedures, views, triggers, etc.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 extension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Always required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Every SQL Server database must have exactly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primary 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tables and user tables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data and metadata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Filegroup information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MyDatabase.mdf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24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A483-9EBE-4B72-A9AA-7C8EF7FE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837333" cy="762000"/>
          </a:xfrm>
        </p:spPr>
        <p:txBody>
          <a:bodyPr>
            <a:normAutofit fontScale="90000"/>
          </a:bodyPr>
          <a:lstStyle/>
          <a:p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📁 LDF File (Log Data File)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8A3782-99DA-4982-9BF0-DE97DEDE0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885295"/>
            <a:ext cx="107526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Data File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Stores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records all changes made to the database — insertions, updates, deletions — to 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 extension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ldf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 for recovery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SQL Server uses this file to recover a database to a consistent state in case of a crash or restore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MyDatabase_log.ldf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270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625"/>
          </a:xfrm>
        </p:spPr>
        <p:txBody>
          <a:bodyPr>
            <a:normAutofit/>
          </a:bodyPr>
          <a:lstStyle/>
          <a:p>
            <a:r>
              <a:rPr lang="en-US" dirty="0"/>
              <a:t>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Deletion Database Size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337" y="2160588"/>
            <a:ext cx="7707364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35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651"/>
            <a:ext cx="10515600" cy="8762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Before Deletion Indexing Status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9300" y="2160588"/>
            <a:ext cx="7293437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6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After Deletion Table Size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8156" y="2160588"/>
            <a:ext cx="701572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173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After Deletion Database Size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996" y="2160588"/>
            <a:ext cx="7168046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75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After Deletion Database Size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219" y="2160588"/>
            <a:ext cx="724560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17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After Deletion Indexing Status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434" y="2160588"/>
            <a:ext cx="721917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93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886950" cy="1325563"/>
          </a:xfrm>
        </p:spPr>
        <p:txBody>
          <a:bodyPr>
            <a:normAutofit/>
          </a:bodyPr>
          <a:lstStyle/>
          <a:p>
            <a:r>
              <a:rPr lang="en-US" dirty="0"/>
              <a:t> After Applying Shrinking Database Command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338" y="2160588"/>
            <a:ext cx="736736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0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546" y="374650"/>
            <a:ext cx="8160908" cy="1325563"/>
          </a:xfrm>
        </p:spPr>
        <p:txBody>
          <a:bodyPr/>
          <a:lstStyle/>
          <a:p>
            <a:r>
              <a:rPr lang="en-US" dirty="0"/>
              <a:t>      After Shrink </a:t>
            </a:r>
            <a:r>
              <a:rPr lang="en-US" dirty="0" err="1"/>
              <a:t>DataBase</a:t>
            </a:r>
            <a:r>
              <a:rPr lang="en-US" dirty="0"/>
              <a:t> Size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213" y="2160588"/>
            <a:ext cx="727961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42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After reorganize all command 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072" y="2160588"/>
            <a:ext cx="715989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05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0700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b="1" dirty="0">
                <a:latin typeface="Arial" panose="020B0604020202020204" pitchFamily="34" charset="0"/>
              </a:rPr>
              <a:t>      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38225" y="931655"/>
            <a:ext cx="1011554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scenario, after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deleting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performing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shrink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we observed a significant drop in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page_count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value, confirming that physical space was reclaimed. However, this also introduced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 fragmentation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shown by reduced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avg_page_space_used_in_percent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uneven page utilization.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mitigate the performance impact of this fragmentation, we executed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 INDEX ... REORGANIZE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command, which helped compact index pages and improve their efficiency without fully rebuilding the index.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🔹Shrinking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reclaimed space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🔹Reorganizing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the index layout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Together, they balanced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savings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recovery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After shrinking operations, always follow up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 maintenance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(either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reorganize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rebuild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depending on fragmentation level) to maintain query performance and storage efficiency.</a:t>
            </a:r>
          </a:p>
        </p:txBody>
      </p:sp>
    </p:spTree>
    <p:extLst>
      <p:ext uri="{BB962C8B-B14F-4D97-AF65-F5344CB8AC3E}">
        <p14:creationId xmlns:p14="http://schemas.microsoft.com/office/powerpoint/2010/main" val="11342873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469</TotalTime>
  <Words>1068</Words>
  <Application>Microsoft Office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Times New Roman</vt:lpstr>
      <vt:lpstr>Trebuchet MS</vt:lpstr>
      <vt:lpstr>Wingdings 3</vt:lpstr>
      <vt:lpstr>Facet</vt:lpstr>
      <vt:lpstr> Understanding Index Bloat in SQL Server</vt:lpstr>
      <vt:lpstr>   Think of It Like This: A Book Example</vt:lpstr>
      <vt:lpstr>PowerPoint Presentation</vt:lpstr>
      <vt:lpstr>Optimizing SQL Server Indexes by Removing Empty Pages</vt:lpstr>
      <vt:lpstr>PowerPoint Presentation</vt:lpstr>
      <vt:lpstr>PowerPoint Presentation</vt:lpstr>
      <vt:lpstr>        Why Empty Pages Are a Problem? </vt:lpstr>
      <vt:lpstr>         🛠 Tools for Cleanup </vt:lpstr>
      <vt:lpstr>                Generating The Scenario</vt:lpstr>
      <vt:lpstr>                               Object Table</vt:lpstr>
      <vt:lpstr>                Before Deletion Table Size</vt:lpstr>
      <vt:lpstr>PowerPoint Presentation</vt:lpstr>
      <vt:lpstr>                             Database Files</vt:lpstr>
      <vt:lpstr>                          📁 MDF File (Primary Data File) </vt:lpstr>
      <vt:lpstr>                               📁 LDF File (Log Data File) </vt:lpstr>
      <vt:lpstr>               Before Deletion Database Size</vt:lpstr>
      <vt:lpstr>            Before Deletion Indexing Status</vt:lpstr>
      <vt:lpstr>                 After Deletion Table Size</vt:lpstr>
      <vt:lpstr>          After Deletion Database Size</vt:lpstr>
      <vt:lpstr>            After Deletion Database Size</vt:lpstr>
      <vt:lpstr>        After Deletion Indexing Status</vt:lpstr>
      <vt:lpstr> After Applying Shrinking Database Command</vt:lpstr>
      <vt:lpstr>      After Shrink DataBase Size</vt:lpstr>
      <vt:lpstr>        After reorganize all command  </vt:lpstr>
      <vt:lpstr>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</dc:title>
  <dc:creator>Microsoft account</dc:creator>
  <cp:lastModifiedBy>Pardeep Salaria</cp:lastModifiedBy>
  <cp:revision>42</cp:revision>
  <dcterms:created xsi:type="dcterms:W3CDTF">2025-06-01T03:05:09Z</dcterms:created>
  <dcterms:modified xsi:type="dcterms:W3CDTF">2025-06-03T04:27:39Z</dcterms:modified>
</cp:coreProperties>
</file>